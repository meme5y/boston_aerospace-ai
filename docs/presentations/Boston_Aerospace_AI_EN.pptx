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4400" y="685800"/>
            <a:ext cx="7315200" cy="3794760"/>
          </a:xfrm>
          <a:prstGeom prst="rect">
            <a:avLst/>
          </a:prstGeom>
          <a:solidFill>
            <a:srgbClr val="0B1020">
              <a:alpha val="90000"/>
            </a:srgbClr>
          </a:solidFill>
          <a:ln w="1905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685800"/>
            <a:ext cx="91440" cy="379476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97280" y="9601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Aerospace AI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1097280" y="1792224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with Explainable AI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00D8FF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71600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0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ML Models in Ensemble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35808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5808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with Ollama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0016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64224" y="2487168"/>
            <a:ext cx="1536192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24871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6304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146304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0896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310896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475488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0" y="29992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endParaRPr lang="en-US" sz="3200" dirty="0"/>
          </a:p>
        </p:txBody>
      </p:sp>
      <p:sp>
        <p:nvSpPr>
          <p:cNvPr id="56" name="Text 54"/>
          <p:cNvSpPr/>
          <p:nvPr/>
        </p:nvSpPr>
        <p:spPr>
          <a:xfrm>
            <a:off x="6400800" y="3493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Plan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 · Junho 2026 · bostonaerospace.ai | github.com/meme5y/Boston_aerospace-AI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THE INDUSTRY LOSES BILLIONS EVERY 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3200400" cy="3657600"/>
          </a:xfrm>
          <a:prstGeom prst="rect">
            <a:avLst/>
          </a:prstGeom>
          <a:solidFill>
            <a:srgbClr val="0B1020"/>
          </a:solidFill>
          <a:ln w="1270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3657600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470B+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preventable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aerospace accidents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past 20 years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predictive systems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in any case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896112"/>
            <a:ext cx="169164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8961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896112"/>
            <a:ext cx="105156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41848" y="8961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75120" y="896112"/>
            <a:ext cx="2286000" cy="502920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39128" y="8961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144475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4488" y="144475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Origin New Glenn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44475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41848" y="144475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US$100M+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144475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444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2nd stage thrust loss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40480" y="1993392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19933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737 MAX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77840" y="1993392"/>
            <a:ext cx="10515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41848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US$60B+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75120" y="1993392"/>
            <a:ext cx="228600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993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Faulty AOA sensor/MCAS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40480" y="254203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2542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AMOS-6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577840" y="254203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1848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US$300M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54203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25420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Undetected structural failure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840480" y="3090672"/>
            <a:ext cx="169164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04488" y="3090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Ariane 5 (1996)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77840" y="3090672"/>
            <a:ext cx="105156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41848" y="30906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US$370M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75120" y="3090672"/>
            <a:ext cx="2286000" cy="502920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39128" y="30906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overflow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0" y="3639312"/>
            <a:ext cx="169164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04488" y="36393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Columbia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577840" y="3639312"/>
            <a:ext cx="105156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41848" y="363931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US$13B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639312"/>
            <a:ext cx="2286000" cy="502920"/>
          </a:xfrm>
          <a:prstGeom prst="rect">
            <a:avLst/>
          </a:prstGeom>
          <a:solidFill>
            <a:srgbClr val="0D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39128" y="36393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 thermal damage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None of these accidents were predicted by conventional systems.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— PREDICTIVE, EXPLAINABLE, PRIVATE AI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failures before they happen.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accessible, explainable and 100% private predictive maintenance system for regional operators.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783080"/>
            <a:ext cx="64008" cy="126187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RUL Predict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of 6 ML models with 95% confidence interval. Prediction up to 125 cycles.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27832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1783080"/>
            <a:ext cx="64008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◈  RAG Chat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10712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+ ChromaDB indexes technical manuals. Answers in English, offline and private.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35624" y="1783080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783080"/>
            <a:ext cx="64008" cy="12618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SHAP Explainable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18504" y="2203704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prediction shows which sensors influenced it. Traceable and auditable.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72968"/>
            <a:ext cx="64008" cy="126187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Computer Vision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 detection (OpenCV), thermal analysis and visual structural damage.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27832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3172968"/>
            <a:ext cx="64008" cy="126187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 Audio Analysis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10712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 vibrations in bearings and turbines via MFCC and FFT (Librosa).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35624" y="3172968"/>
            <a:ext cx="2743200" cy="1261872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35624" y="3172968"/>
            <a:ext cx="64008" cy="1261872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 PDF Report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18504" y="3593592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export with engine ID, RUL, ensemble breakdown and maintenance recommendation.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 — ACCIDENTS THAT COULD HAVE BEEN PREVENTED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749808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841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Origin New Glenn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14300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detect progressive thrust loss in the 2nd stage via RUL sensor analysis, alerting before wrong orbit.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64008" cy="749808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18488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18488"/>
            <a:ext cx="64008" cy="7498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82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Boeing 737 MAX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198424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would have shown the AOA sensor was inconsistently high, allowing pilots to disable MCAS before loss of control.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64008" cy="7498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59736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59736"/>
            <a:ext cx="64008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523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Ariane 5 (1996)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8254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AI would have identified the overflow risk during flight simulations — before launch.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64008" cy="7498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00984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00984"/>
            <a:ext cx="64008" cy="74980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SpaceX AMOS-6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66674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fatigue analysis would have detected the failure via pressure and vibration sensor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00984"/>
            <a:ext cx="64008" cy="74980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42232"/>
            <a:ext cx="8412480" cy="749808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42232"/>
            <a:ext cx="64008" cy="7498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Columbia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50799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On-board cameras + computer vision would have detected thermal damage on the left wing during ascent.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42232"/>
            <a:ext cx="64008" cy="74980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— 100% PRODUCTION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77240"/>
            <a:ext cx="2743200" cy="402336"/>
          </a:xfrm>
          <a:prstGeom prst="rect">
            <a:avLst/>
          </a:prstGeom>
          <a:solidFill>
            <a:srgbClr val="00D8FF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64008" cy="4041648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NASA CMAPSS (18 sensors)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02920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XGBoost · LightGBM · CatBoost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Random Forest · GBR · Extra Trees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502920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SHAP TreeExplainer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MAE &lt; 12 cycles · R² &gt; 0.92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GroupShuffleSplit (engine-level)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502920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95% confidence interval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227832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27832" y="777240"/>
            <a:ext cx="2743200" cy="402336"/>
          </a:xfrm>
          <a:prstGeom prst="rect">
            <a:avLst/>
          </a:prstGeom>
          <a:solidFill>
            <a:srgbClr val="00FF88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Chat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27832" y="777240"/>
            <a:ext cx="64008" cy="404164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Ollama (tinyllama/llama3.2)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410712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nomic-embed-text (embeddings)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410712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ChromaDB (vector store)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410712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LangChain + langchain-ollama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410712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PyPDF (manual indexing)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3410712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Offline private responses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3410712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Per-response source citation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135624" y="777240"/>
            <a:ext cx="2743200" cy="4041648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5624" y="777240"/>
            <a:ext cx="2743200" cy="402336"/>
          </a:xfrm>
          <a:prstGeom prst="rect">
            <a:avLst/>
          </a:prstGeom>
          <a:solidFill>
            <a:srgbClr val="FF9500">
              <a:alpha val="25000"/>
            </a:srgbClr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777240"/>
            <a:ext cx="2523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Infra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35624" y="777240"/>
            <a:ext cx="64008" cy="404164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128016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Flask + Flask-Sessions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318504" y="175564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PostgreSQL + psycopg2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6318504" y="2231136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Docker + docker-compose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6318504" y="2706624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Cloudflare Tunnel (free HTTPS)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6318504" y="3182112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GitHub Actions CI/CD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318504" y="365760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Nginx reverse proxy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318504" y="4133088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Waitress production server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All modules ✅ Production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3474720" cy="3474720"/>
          </a:xfrm>
          <a:prstGeom prst="oval">
            <a:avLst/>
          </a:prstGeom>
          <a:solidFill>
            <a:srgbClr val="00D8FF">
              <a:alpha val="20000"/>
            </a:srgbClr>
          </a:solidFill>
          <a:ln w="19050">
            <a:solidFill>
              <a:srgbClr val="00D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69080" y="221284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069080" y="2487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€100B+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69080" y="28163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aeronautical MRO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60120" y="1207008"/>
            <a:ext cx="2468880" cy="2468880"/>
          </a:xfrm>
          <a:prstGeom prst="oval">
            <a:avLst/>
          </a:prstGeom>
          <a:solidFill>
            <a:srgbClr val="00FF88">
              <a:alpha val="28000"/>
            </a:srgbClr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167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€4-6B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software SMEs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63040" y="1709928"/>
            <a:ext cx="1463040" cy="1463040"/>
          </a:xfrm>
          <a:prstGeom prst="oval">
            <a:avLst/>
          </a:prstGeom>
          <a:solidFill>
            <a:srgbClr val="FF9500">
              <a:alpha val="38000"/>
            </a:srgbClr>
          </a:solidFill>
          <a:ln w="19050">
            <a:solidFill>
              <a:srgbClr val="FF9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63240" y="21671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4414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€72M+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27706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operators / 5 years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0" y="777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 (NO FAA/EASA CERTIFICATION)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17043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17043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24358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🚁  Service Helicopters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51960" y="15544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~3,200 operators BR+PT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0" y="199339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0" y="199339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206654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Executive Aviation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51960" y="23774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~1,800 operators BR+PT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0" y="281635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0" y="281635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51960" y="288950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Regional Cargo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51960" y="32004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 operators BR+PT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0" y="363931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3639312"/>
            <a:ext cx="4663440" cy="685800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712464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 Industrial Engines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251960" y="40233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energy, O&amp;G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0" y="4462272"/>
            <a:ext cx="4663440" cy="402336"/>
          </a:xfrm>
          <a:prstGeom prst="rect">
            <a:avLst/>
          </a:prstGeom>
          <a:solidFill>
            <a:srgbClr val="00D8FF">
              <a:alpha val="16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44622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No accessible, explainable, and local-language solution exists for this segment.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DIFFERENTIATION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993392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 Predix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12464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2464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31536" y="749808"/>
            <a:ext cx="1600200" cy="402336"/>
          </a:xfrm>
          <a:prstGeom prst="rect">
            <a:avLst/>
          </a:prstGeom>
          <a:solidFill>
            <a:srgbClr val="0F1629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IoT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50608" y="749808"/>
            <a:ext cx="1600200" cy="402336"/>
          </a:xfrm>
          <a:prstGeom prst="rect">
            <a:avLst/>
          </a:prstGeom>
          <a:solidFill>
            <a:srgbClr val="00D8FF">
              <a:alpha val="25000"/>
            </a:srgbClr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0608" y="74980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AI 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Price/year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93392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93392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€50-200k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12464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€30-100k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31536" y="1243584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€20-80k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50608" y="1243584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124358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€0-2.4k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93392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93392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12464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31536" y="1737360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31536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50608" y="1737360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73736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993392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93392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 months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12464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12464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31536" y="2231136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 months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50608" y="2231136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223113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week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93392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3392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12464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12464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31536" y="2724912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31536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EN/multi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150608" y="2724912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272491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993392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93392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712464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12464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431536" y="3218688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31536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150608" y="3218688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50608" y="321868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✓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Chat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993392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993392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712464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12464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31536" y="3712464"/>
            <a:ext cx="1600200" cy="438912"/>
          </a:xfrm>
          <a:prstGeom prst="rect">
            <a:avLst/>
          </a:prstGeom>
          <a:solidFill>
            <a:srgbClr val="0F1629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31536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50608" y="3712464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50608" y="371246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SME/Regional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993392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993392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712464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712464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431536" y="4206240"/>
            <a:ext cx="1600200" cy="438912"/>
          </a:xfrm>
          <a:prstGeom prst="rect">
            <a:avLst/>
          </a:prstGeom>
          <a:solidFill>
            <a:srgbClr val="0B1020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31536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150608" y="4206240"/>
            <a:ext cx="1600200" cy="438912"/>
          </a:xfrm>
          <a:prstGeom prst="rect">
            <a:avLst/>
          </a:prstGeom>
          <a:solidFill>
            <a:srgbClr val="00D8FF">
              <a:alpha val="12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50608" y="42062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— MONTHLY PLANS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2606040" cy="4114800"/>
          </a:xfrm>
          <a:prstGeom prst="rect">
            <a:avLst/>
          </a:prstGeom>
          <a:solidFill>
            <a:srgbClr val="0B1020"/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€0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2057400" cy="0"/>
          </a:xfrm>
          <a:prstGeom prst="line">
            <a:avLst/>
          </a:prstGeom>
          <a:noFill/>
          <a:ln w="10160">
            <a:solidFill>
              <a:srgbClr val="3A506B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10 predictions/month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Basic RAG chat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 support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572000"/>
            <a:ext cx="1965960" cy="292608"/>
          </a:xfrm>
          <a:prstGeom prst="rect">
            <a:avLst/>
          </a:prstGeom>
          <a:solidFill>
            <a:srgbClr val="3A506B">
              <a:alpha val="18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749808"/>
            <a:ext cx="2606040" cy="4114800"/>
          </a:xfrm>
          <a:prstGeom prst="rect">
            <a:avLst/>
          </a:prstGeom>
          <a:solidFill>
            <a:srgbClr val="0F1629"/>
          </a:solidFill>
          <a:ln w="2540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621792"/>
            <a:ext cx="1600200" cy="27432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621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0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€49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3566160" y="2029968"/>
            <a:ext cx="2057400" cy="0"/>
          </a:xfrm>
          <a:prstGeom prst="line">
            <a:avLst/>
          </a:prstGeom>
          <a:noFill/>
          <a:ln w="10160">
            <a:solidFill>
              <a:srgbClr val="00D8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users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643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 engines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5643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predictions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5643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Document upload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PDF reports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5643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support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11880" y="4572000"/>
            <a:ext cx="1965960" cy="292608"/>
          </a:xfrm>
          <a:prstGeom prst="rect">
            <a:avLst/>
          </a:prstGeom>
          <a:solidFill>
            <a:srgbClr val="00D8FF">
              <a:alpha val="18000"/>
            </a:srgbClr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26480" y="749808"/>
            <a:ext cx="2606040" cy="411480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26480" y="133502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€199</a:t>
            </a:r>
            <a:pPr algn="ctr" indent="0" marL="0">
              <a:buNone/>
            </a:pPr>
            <a:r>
              <a:rPr lang="en-US" sz="13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6400800" y="2029968"/>
            <a:ext cx="2057400" cy="0"/>
          </a:xfrm>
          <a:prstGeom prst="line">
            <a:avLst/>
          </a:prstGeom>
          <a:noFill/>
          <a:ln w="10160">
            <a:solidFill>
              <a:srgbClr val="00FF88">
                <a:alpha val="4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2157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users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91072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fleets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91072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Custom training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integration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91072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91072" y="3941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Guaranteed SLA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46520" y="4572000"/>
            <a:ext cx="1965960" cy="292608"/>
          </a:xfrm>
          <a:prstGeom prst="rect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4572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large fleets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6 WEEKS TO LAUNCH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8046720" cy="0"/>
          </a:xfrm>
          <a:prstGeom prst="line">
            <a:avLst/>
          </a:prstGeom>
          <a:noFill/>
          <a:ln w="25400">
            <a:solidFill>
              <a:srgbClr val="1A2A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1682496"/>
            <a:ext cx="402336" cy="402336"/>
          </a:xfrm>
          <a:prstGeom prst="oval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59152" y="1682496"/>
            <a:ext cx="402336" cy="402336"/>
          </a:xfrm>
          <a:prstGeom prst="oval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92808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SendGrid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92808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92808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682496"/>
            <a:ext cx="402336" cy="402336"/>
          </a:xfrm>
          <a:prstGeom prst="oval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82696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82696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38928" y="1682496"/>
            <a:ext cx="402336" cy="402336"/>
          </a:xfrm>
          <a:prstGeom prst="oval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72584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2584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2584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28816" y="1682496"/>
            <a:ext cx="402336" cy="402336"/>
          </a:xfrm>
          <a:prstGeom prst="oval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2472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62472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62472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62472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18704" y="1682496"/>
            <a:ext cx="402336" cy="402336"/>
          </a:xfrm>
          <a:prstGeom prst="oval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28016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452360" y="2240280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LAUNCH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52360" y="2770632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52360" y="330098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Reddit/HN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≥100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36576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10312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0312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≥50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210312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4048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84048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ProductHunt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57784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57784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 week 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15200" y="4434840"/>
            <a:ext cx="1600200" cy="502920"/>
          </a:xfrm>
          <a:prstGeom prst="rect">
            <a:avLst/>
          </a:prstGeom>
          <a:solidFill>
            <a:srgbClr val="0B1020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0" y="4434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315200" y="4681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6 months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B102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— 3 CRITICAL ASSUMPTIONS TO 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these 3 assumptions this week — before building anything else.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FF22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61872"/>
            <a:ext cx="64008" cy="1005840"/>
          </a:xfrm>
          <a:prstGeom prst="rect">
            <a:avLst/>
          </a:prstGeom>
          <a:solidFill>
            <a:srgbClr val="FF2244"/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" y="1517904"/>
            <a:ext cx="502920" cy="502920"/>
          </a:xfrm>
          <a:prstGeom prst="oval">
            <a:avLst/>
          </a:prstGeom>
          <a:solidFill>
            <a:srgbClr val="FF2244">
              <a:alpha val="75000"/>
            </a:srgbClr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17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1353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engine data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34440" y="1682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3 Part-145 maintenance shops. Offer 6 months free in exchange for historical maintenance data. Show retroactively where the system would have alerted.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1609344"/>
            <a:ext cx="2011680" cy="292608"/>
          </a:xfrm>
          <a:prstGeom prst="rect">
            <a:avLst/>
          </a:prstGeom>
          <a:solidFill>
            <a:srgbClr val="FF2244">
              <a:alpha val="18000"/>
            </a:srgbClr>
          </a:solidFill>
          <a:ln w="12700">
            <a:solidFill>
              <a:srgbClr val="FF22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09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22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contact 3 Part-145 shops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FF9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04872"/>
            <a:ext cx="64008" cy="1005840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" y="2660904"/>
            <a:ext cx="502920" cy="502920"/>
          </a:xfrm>
          <a:prstGeom prst="oval">
            <a:avLst/>
          </a:prstGeom>
          <a:solidFill>
            <a:srgbClr val="FF9500">
              <a:alpha val="75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660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RAG quality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34440" y="2825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5 engineers to ask 10 questions and rate the answers (1-5). If average &lt; 3, migrate from tinyllama to llama3.2 or mistral.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92240" y="2752344"/>
            <a:ext cx="2011680" cy="292608"/>
          </a:xfrm>
          <a:prstGeom prst="rect">
            <a:avLst/>
          </a:prstGeom>
          <a:solidFill>
            <a:srgbClr val="FF9500">
              <a:alpha val="18000"/>
            </a:srgbClr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52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recruit 5 engineers for testing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547872"/>
            <a:ext cx="8229600" cy="1005840"/>
          </a:xfrm>
          <a:prstGeom prst="rect">
            <a:avLst/>
          </a:prstGeom>
          <a:solidFill>
            <a:srgbClr val="0B1020"/>
          </a:solidFill>
          <a:ln w="1905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47872"/>
            <a:ext cx="64008" cy="100584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3803904"/>
            <a:ext cx="502920" cy="502920"/>
          </a:xfrm>
          <a:prstGeom prst="oval">
            <a:avLst/>
          </a:prstGeom>
          <a:solidFill>
            <a:srgbClr val="00FF88">
              <a:alpha val="7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8039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34440" y="3639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willingness to pay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34440" y="3968496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pilot access for €1 (not free). If no one pays €1, it's a positioning problem — not a product problem.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92240" y="3895344"/>
            <a:ext cx="2011680" cy="292608"/>
          </a:xfrm>
          <a:prstGeom prst="rect">
            <a:avLst/>
          </a:prstGeom>
          <a:solidFill>
            <a:srgbClr val="00FF88">
              <a:alpha val="18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38953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create Stripe payment page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building. Start calling.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00D8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71600" y="777240"/>
            <a:ext cx="6400800" cy="3611880"/>
          </a:xfrm>
          <a:prstGeom prst="rect">
            <a:avLst/>
          </a:prstGeom>
          <a:solidFill>
            <a:srgbClr val="0B1020">
              <a:alpha val="90000"/>
            </a:srgbClr>
          </a:solidFill>
          <a:ln w="19050">
            <a:solidFill>
              <a:srgbClr val="00D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371600" y="777240"/>
            <a:ext cx="91440" cy="3611880"/>
          </a:xfrm>
          <a:prstGeom prst="rect">
            <a:avLst/>
          </a:prstGeom>
          <a:solidFill>
            <a:srgbClr val="00D8FF"/>
          </a:solidFill>
          <a:ln w="12700">
            <a:solidFill>
              <a:srgbClr val="00D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71600" y="10515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Aerospace AI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37160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Artur Augusto — Founder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0" y="2267712"/>
            <a:ext cx="3657600" cy="0"/>
          </a:xfrm>
          <a:prstGeom prst="line">
            <a:avLst/>
          </a:prstGeom>
          <a:noFill/>
          <a:ln w="12700">
            <a:solidFill>
              <a:srgbClr val="00D8FF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24231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 Arthur874066@gmail.com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371600" y="28803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bostonaerospace.ai (em breve)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371600" y="3337560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🐙  github.com/meme5y/Boston_aerospace-AI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645920" y="37947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"Stop building. Start calling."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demo today.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0" y="47731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v4.0 · Junho 2026 · NASA CMAPSS · Ollama · Docker · Cloudflare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Boston Aerospace AI — Pitch Deck</dc:title>
  <dc:subject>PptxGenJS Presentation</dc:subject>
  <dc:creator>PptxGenJS</dc:creator>
  <cp:lastModifiedBy>PptxGenJS</cp:lastModifiedBy>
  <cp:revision>1</cp:revision>
  <dcterms:created xsi:type="dcterms:W3CDTF">2026-06-11T10:38:45Z</dcterms:created>
  <dcterms:modified xsi:type="dcterms:W3CDTF">2026-06-11T10:38:45Z</dcterms:modified>
</cp:coreProperties>
</file>