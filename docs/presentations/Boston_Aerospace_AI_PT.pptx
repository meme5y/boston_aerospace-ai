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685800"/>
            <a:ext cx="7315200" cy="3794760"/>
          </a:xfrm>
          <a:prstGeom prst="rect">
            <a:avLst/>
          </a:prstGeom>
          <a:solidFill>
            <a:srgbClr val="0B1020">
              <a:alpha val="90000"/>
            </a:srgbClr>
          </a:solidFill>
          <a:ln w="19050">
            <a:solidFill>
              <a:srgbClr val="0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4400" y="685800"/>
            <a:ext cx="91440" cy="379476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" y="9601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Aerospace AI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1097280" y="1792224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 Preditiva com IA Explicável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286000" y="2331720"/>
            <a:ext cx="4572000" cy="0"/>
          </a:xfrm>
          <a:prstGeom prst="line">
            <a:avLst/>
          </a:prstGeom>
          <a:noFill/>
          <a:ln w="12700">
            <a:solidFill>
              <a:srgbClr val="00D8FF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2487168"/>
            <a:ext cx="1536192" cy="292608"/>
          </a:xfrm>
          <a:prstGeom prst="rect">
            <a:avLst/>
          </a:prstGeom>
          <a:solidFill>
            <a:srgbClr val="00D8FF">
              <a:alpha val="18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0" y="248716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Modelos ML em Ensemble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35808" y="2487168"/>
            <a:ext cx="1536192" cy="292608"/>
          </a:xfrm>
          <a:prstGeom prst="rect">
            <a:avLst/>
          </a:prstGeom>
          <a:solidFill>
            <a:srgbClr val="00D8FF">
              <a:alpha val="18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5808" y="248716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com Ollama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0016" y="2487168"/>
            <a:ext cx="1536192" cy="292608"/>
          </a:xfrm>
          <a:prstGeom prst="rect">
            <a:avLst/>
          </a:prstGeom>
          <a:solidFill>
            <a:srgbClr val="00D8FF">
              <a:alpha val="18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0016" y="248716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Explicável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64224" y="2487168"/>
            <a:ext cx="1536192" cy="292608"/>
          </a:xfrm>
          <a:prstGeom prst="rect">
            <a:avLst/>
          </a:prstGeom>
          <a:solidFill>
            <a:srgbClr val="00D8FF">
              <a:alpha val="18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248716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Computacional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46304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146304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10896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310896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5488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475488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0080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€49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640080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Pro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v4.0 · Junho 2026 · bostonaerospace.ai | github.com/meme5y/Boston_aerospace-AI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— A INDÚSTRIA PERDE BILIÕES POR ANO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200400" cy="3657600"/>
          </a:xfrm>
          <a:prstGeom prst="rect">
            <a:avLst/>
          </a:prstGeom>
          <a:solidFill>
            <a:srgbClr val="0B1020"/>
          </a:solidFill>
          <a:ln w="12700">
            <a:solidFill>
              <a:srgbClr val="FF2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64008" cy="3657600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470B+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perdidos em acidentes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aeroespaciais evitáveis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últimos 20 anos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sistemas preditivos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activados em nenhum caso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896112"/>
            <a:ext cx="1691640" cy="502920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8961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Acidente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0" y="896112"/>
            <a:ext cx="1051560" cy="502920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89611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0" y="896112"/>
            <a:ext cx="2286000" cy="502920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896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raiz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1444752"/>
            <a:ext cx="169164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4488" y="14447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Origin New Glenn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1444752"/>
            <a:ext cx="105156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41848" y="14447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US$100M+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75120" y="1444752"/>
            <a:ext cx="228600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1444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 de impulso no 2º estágio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0" y="1993392"/>
            <a:ext cx="169164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04488" y="19933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Boeing 737 MAX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77840" y="1993392"/>
            <a:ext cx="10515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41848" y="199339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US$60B+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75120" y="1993392"/>
            <a:ext cx="228600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19933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AOA defeituoso/MCAS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0" y="2542032"/>
            <a:ext cx="169164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04488" y="25420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AMOS-6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2542032"/>
            <a:ext cx="105156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41848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US$300M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542032"/>
            <a:ext cx="228600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25420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 estrutural não detetada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40480" y="3090672"/>
            <a:ext cx="169164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04488" y="3090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Ariane 5 (1996)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77840" y="3090672"/>
            <a:ext cx="10515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41848" y="30906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US$370M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75120" y="3090672"/>
            <a:ext cx="228600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39128" y="30906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de software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40480" y="3639312"/>
            <a:ext cx="169164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04488" y="36393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Columbia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77840" y="3639312"/>
            <a:ext cx="105156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41848" y="363931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US$13B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75120" y="3639312"/>
            <a:ext cx="228600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39128" y="36393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Dano térmico ignorado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 Nenhum destes acidentes foi previsto por sistemas convencionais.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 — IA PREDITIVA, EXPLICÁVEL E PRIVADA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Prever falhas antes que aconteçam.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sistema de manutenção preditiva acessível, explicável e 100% privado para operadores regionais.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2743200" cy="1261872"/>
          </a:xfrm>
          <a:prstGeom prst="rect">
            <a:avLst/>
          </a:prstGeom>
          <a:solidFill>
            <a:srgbClr val="0B1020"/>
          </a:solidFill>
          <a:ln w="12700">
            <a:solidFill>
              <a:srgbClr val="0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83080"/>
            <a:ext cx="64008" cy="126187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RUL Predict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203704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de 6 modelos ML com intervalo de confiança 95%. Previsão até 125 ciclos.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27832" y="1783080"/>
            <a:ext cx="2743200" cy="1261872"/>
          </a:xfrm>
          <a:prstGeom prst="rect">
            <a:avLst/>
          </a:prstGeom>
          <a:solidFill>
            <a:srgbClr val="0B1020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783080"/>
            <a:ext cx="64008" cy="12618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874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  Chat RAG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10712" y="2203704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+ ChromaDB indexa manuais técnicos. Responde em português, offline e privado.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35624" y="1783080"/>
            <a:ext cx="2743200" cy="1261872"/>
          </a:xfrm>
          <a:prstGeom prst="rect">
            <a:avLst/>
          </a:prstGeom>
          <a:solidFill>
            <a:srgbClr val="0B1020"/>
          </a:solidFill>
          <a:ln w="12700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1783080"/>
            <a:ext cx="64008" cy="126187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874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SHAP Explicável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18504" y="2203704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predição mostra quais sensores influenciaram. Rastreável e auditável.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172968"/>
            <a:ext cx="2743200" cy="1261872"/>
          </a:xfrm>
          <a:prstGeom prst="rect">
            <a:avLst/>
          </a:prstGeom>
          <a:solidFill>
            <a:srgbClr val="0B1020"/>
          </a:solidFill>
          <a:ln w="12700">
            <a:solidFill>
              <a:srgbClr val="0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72968"/>
            <a:ext cx="64008" cy="126187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64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Visão Computacional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35935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de trincas (OpenCV), análise térmica e danos estruturais visuais.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27832" y="3172968"/>
            <a:ext cx="2743200" cy="1261872"/>
          </a:xfrm>
          <a:prstGeom prst="rect">
            <a:avLst/>
          </a:prstGeom>
          <a:solidFill>
            <a:srgbClr val="0B1020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27832" y="3172968"/>
            <a:ext cx="64008" cy="12618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3264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 Análise de Áudio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10712" y="35935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Vibrações anómalas em rolamentos e turbinas via MFCC e FFT (Librosa).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35624" y="3172968"/>
            <a:ext cx="2743200" cy="1261872"/>
          </a:xfrm>
          <a:prstGeom prst="rect">
            <a:avLst/>
          </a:prstGeom>
          <a:solidFill>
            <a:srgbClr val="0B1020"/>
          </a:solidFill>
          <a:ln w="12700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35624" y="3172968"/>
            <a:ext cx="64008" cy="126187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3264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Relatório PDF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18504" y="35935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automático com motor ID, RUL, ensemble e recomendação de manutenção.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— ACIDENTES QUE TERIAM SIDO PREVENIDOS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749808"/>
          </a:xfrm>
          <a:prstGeom prst="rect">
            <a:avLst/>
          </a:prstGeom>
          <a:solidFill>
            <a:srgbClr val="0B1020"/>
          </a:solidFill>
          <a:ln w="12700">
            <a:solidFill>
              <a:srgbClr val="FF2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64008" cy="749808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41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Origin New Glenn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Detetaria a perda progressiva de impulso no 2º estágio via análise de sensores RUL, alertando antes da órbita errada.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749808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18488"/>
            <a:ext cx="8412480" cy="749808"/>
          </a:xfrm>
          <a:prstGeom prst="rect">
            <a:avLst/>
          </a:prstGeom>
          <a:solidFill>
            <a:srgbClr val="0B1020"/>
          </a:solidFill>
          <a:ln w="12700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18488"/>
            <a:ext cx="64008" cy="74980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Boeing 737 MAX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19842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teria mostrado que o sensor AOA estava inconsistente, permitindo desligar o MCAS antes da perda de controlo.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618488"/>
            <a:ext cx="64008" cy="74980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59736"/>
            <a:ext cx="8412480" cy="749808"/>
          </a:xfrm>
          <a:prstGeom prst="rect">
            <a:avLst/>
          </a:prstGeom>
          <a:solidFill>
            <a:srgbClr val="0B1020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59736"/>
            <a:ext cx="64008" cy="7498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Ariane 5 (1996)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82549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offline teria identificado o risco de overflow durante simulações de voo — antes do lançamento.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59736"/>
            <a:ext cx="64008" cy="7498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00984"/>
            <a:ext cx="8412480" cy="749808"/>
          </a:xfrm>
          <a:prstGeom prst="rect">
            <a:avLst/>
          </a:prstGeom>
          <a:solidFill>
            <a:srgbClr val="0B1020"/>
          </a:solidFill>
          <a:ln w="12700">
            <a:solidFill>
              <a:srgbClr val="0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00984"/>
            <a:ext cx="64008" cy="74980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AMOS-6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666744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fadiga estrutural teria detectado a falha via monitorização de sensores de pressão e vibração.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00984"/>
            <a:ext cx="64008" cy="74980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42232"/>
            <a:ext cx="8412480" cy="749808"/>
          </a:xfrm>
          <a:prstGeom prst="rect">
            <a:avLst/>
          </a:prstGeom>
          <a:solidFill>
            <a:srgbClr val="0B1020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42232"/>
            <a:ext cx="64008" cy="7498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Columbia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50799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Câmaras de bordo + visão computacional teriam detectado o dano térmico na asa esquerda durante a subida.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42232"/>
            <a:ext cx="64008" cy="7498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TÉCNICA — 100% PRODUÇÃO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4041648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77240"/>
            <a:ext cx="2743200" cy="402336"/>
          </a:xfrm>
          <a:prstGeom prst="rect">
            <a:avLst/>
          </a:prstGeom>
          <a:solidFill>
            <a:srgbClr val="00D8FF">
              <a:alpha val="25000"/>
            </a:srgbClr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77724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64008" cy="404164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NASA CMAPSS (18 sensores)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XGBoost · LightGBM · CatBoost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02920" y="223113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Random Forest · GBR · Extra Trees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SHAP TreeExplainer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02920" y="3182112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MAE &lt; 12 ciclos · R² &gt; 0.92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02920" y="365760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GroupShuffleSplit (motor-level)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02920" y="413308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Intervalo de confiança 95%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227832" y="777240"/>
            <a:ext cx="2743200" cy="4041648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777240"/>
            <a:ext cx="2743200" cy="402336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77724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Chat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27832" y="777240"/>
            <a:ext cx="64008" cy="404164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128016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Ollama (tinyllama/llama3.2)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3410712" y="175564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nomic-embed-text (embeddings)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3410712" y="223113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ChromaDB (vector store)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3410712" y="270662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LangChain + langchain-ollama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410712" y="3182112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PyPDF (indexação de manuais)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3410712" y="365760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Resposta em português offline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410712" y="413308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Citação de fontes por resposta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135624" y="777240"/>
            <a:ext cx="2743200" cy="4041648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35624" y="777240"/>
            <a:ext cx="2743200" cy="402336"/>
          </a:xfrm>
          <a:prstGeom prst="rect">
            <a:avLst/>
          </a:prstGeom>
          <a:solidFill>
            <a:srgbClr val="FF9500">
              <a:alpha val="25000"/>
            </a:srgbClr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77724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Infra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35624" y="777240"/>
            <a:ext cx="64008" cy="404164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128016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Flask + Flask-Sessions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318504" y="175564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PostgreSQL + psycopg2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6318504" y="223113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Docker + docker-compose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6318504" y="270662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Cloudflare Tunnel (HTTPS grátis)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6318504" y="3182112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GitHub Actions CI/CD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6318504" y="365760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Nginx reverse proxy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6318504" y="413308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Waitress production server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Estado: Todos os módulos em ✅ Produção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E OPORTUNIDADE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3474720" cy="3474720"/>
          </a:xfrm>
          <a:prstGeom prst="oval">
            <a:avLst/>
          </a:prstGeom>
          <a:solidFill>
            <a:srgbClr val="00D8FF">
              <a:alpha val="20000"/>
            </a:srgbClr>
          </a:solidFill>
          <a:ln w="19050">
            <a:solidFill>
              <a:srgbClr val="00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69080" y="22128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69080" y="2487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€100B+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69080" y="2816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aeronáutico global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60120" y="1207008"/>
            <a:ext cx="2468880" cy="2468880"/>
          </a:xfrm>
          <a:prstGeom prst="oval">
            <a:avLst/>
          </a:prstGeom>
          <a:solidFill>
            <a:srgbClr val="00FF88">
              <a:alpha val="28000"/>
            </a:srgbClr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1671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2441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€4-6B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27706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preditivo PMEs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1709928"/>
            <a:ext cx="1463040" cy="1463040"/>
          </a:xfrm>
          <a:prstGeom prst="oval">
            <a:avLst/>
          </a:prstGeom>
          <a:solidFill>
            <a:srgbClr val="FF9500">
              <a:alpha val="38000"/>
            </a:srgbClr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21671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63240" y="2441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€72M+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63240" y="27706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operadores / 5 anos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0" y="777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SEGMENTOS-ALVO (SEM CERTIFICAÇÃO FAA/EASA)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117043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17043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2435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🚁  Helicópteros de Serviço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51960" y="15544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~3.200 operadores BR+PT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0" y="199339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199339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20665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 Aviação Executiva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51960" y="23774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~1.800 operadores BR+PT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0" y="281635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281635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28895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Cargueiros Regionais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51960" y="32004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 operadores BR+PT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0" y="363931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363931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7124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 Motores Industriais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251960" y="40233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eólica, O&amp;G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0" y="4462272"/>
            <a:ext cx="4663440" cy="402336"/>
          </a:xfrm>
          <a:prstGeom prst="rect">
            <a:avLst/>
          </a:prstGeom>
          <a:solidFill>
            <a:srgbClr val="00D8FF">
              <a:alpha val="16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446227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Nenhuma solução acessível, explicável e em português existe para este segmento.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 E DIFERENCIAÇÃO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1600200" cy="402336"/>
          </a:xfrm>
          <a:prstGeom prst="rect">
            <a:avLst/>
          </a:prstGeom>
          <a:solidFill>
            <a:srgbClr val="0F1629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93392" y="749808"/>
            <a:ext cx="1600200" cy="402336"/>
          </a:xfrm>
          <a:prstGeom prst="rect">
            <a:avLst/>
          </a:prstGeom>
          <a:solidFill>
            <a:srgbClr val="0F1629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7498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 Predix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12464" y="749808"/>
            <a:ext cx="1600200" cy="402336"/>
          </a:xfrm>
          <a:prstGeom prst="rect">
            <a:avLst/>
          </a:prstGeom>
          <a:solidFill>
            <a:srgbClr val="0F1629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2464" y="7498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31536" y="749808"/>
            <a:ext cx="1600200" cy="402336"/>
          </a:xfrm>
          <a:prstGeom prst="rect">
            <a:avLst/>
          </a:prstGeom>
          <a:solidFill>
            <a:srgbClr val="0F1629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31536" y="7498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IoT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50608" y="749808"/>
            <a:ext cx="1600200" cy="402336"/>
          </a:xfrm>
          <a:prstGeom prst="rect">
            <a:avLst/>
          </a:prstGeom>
          <a:solidFill>
            <a:srgbClr val="00D8FF">
              <a:alpha val="25000"/>
            </a:srgbClr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0608" y="7498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AI 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243584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2435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Preço/ano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93392" y="1243584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12435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€50-200k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12464" y="1243584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2435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€30-100k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31536" y="1243584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2435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€20-80k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50608" y="1243584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12435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€0-2.4k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1737360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93392" y="1737360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Nuvem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12464" y="1737360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12464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Nuvem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31536" y="1737360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31536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Nuvem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50608" y="1737360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Local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231136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23113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93392" y="2231136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93392" y="223113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meses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12464" y="2231136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12464" y="223113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meses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31536" y="2231136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31536" y="223113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meses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150608" y="2231136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50608" y="223113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semana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2724912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724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993392" y="2724912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93392" y="2724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712464" y="2724912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12464" y="2724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31536" y="2724912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31536" y="2724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EN/multi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150608" y="2724912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0608" y="2724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3218688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Explicável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993392" y="3218688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93392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712464" y="3218688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12464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431536" y="3218688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Limitado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150608" y="3218688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50608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✓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3712464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7124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RAG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993392" y="3712464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93392" y="37124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712464" y="3712464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12464" y="37124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431536" y="3712464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31536" y="37124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50608" y="3712464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50608" y="37124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✓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74320" y="4206240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42062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PME/Regional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993392" y="4206240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993392" y="42062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712464" y="4206240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12464" y="42062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431536" y="4206240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31536" y="42062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150608" y="4206240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50608" y="42062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NEGÓCIO — PLANOS MENSAIS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2606040" cy="4114800"/>
          </a:xfrm>
          <a:prstGeom prst="rect">
            <a:avLst/>
          </a:prstGeom>
          <a:solidFill>
            <a:srgbClr val="0B1020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€0</a:t>
            </a:r>
            <a:pPr algn="ctr" indent="0" marL="0">
              <a:buNone/>
            </a:pPr>
            <a:r>
              <a:rPr lang="en-US" sz="13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029968"/>
            <a:ext cx="2057400" cy="0"/>
          </a:xfrm>
          <a:prstGeom prst="line">
            <a:avLst/>
          </a:prstGeom>
          <a:noFill/>
          <a:ln w="10160">
            <a:solidFill>
              <a:srgbClr val="3A506B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utilizador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motor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 predições/mês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Chat RAG básico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3584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Sem suporte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572000"/>
            <a:ext cx="1965960" cy="292608"/>
          </a:xfrm>
          <a:prstGeom prst="rect">
            <a:avLst/>
          </a:prstGeom>
          <a:solidFill>
            <a:srgbClr val="3A506B">
              <a:alpha val="18000"/>
            </a:srgbClr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72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testar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749808"/>
            <a:ext cx="2606040" cy="4114800"/>
          </a:xfrm>
          <a:prstGeom prst="rect">
            <a:avLst/>
          </a:prstGeom>
          <a:solidFill>
            <a:srgbClr val="0F1629"/>
          </a:solidFill>
          <a:ln w="25400">
            <a:solidFill>
              <a:srgbClr val="0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94760" y="621792"/>
            <a:ext cx="1600200" cy="27432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621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POPULAR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91840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91840" y="133502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€49</a:t>
            </a:r>
            <a:pPr algn="ctr" indent="0" marL="0">
              <a:buNone/>
            </a:pPr>
            <a:r>
              <a:rPr lang="en-US" sz="13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3566160" y="2029968"/>
            <a:ext cx="2057400" cy="0"/>
          </a:xfrm>
          <a:prstGeom prst="line">
            <a:avLst/>
          </a:prstGeom>
          <a:noFill/>
          <a:ln w="10160">
            <a:solidFill>
              <a:srgbClr val="00D8FF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 utilizadores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56432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 motores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56432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Predições ilimitadas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56432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Upload documentos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56432" y="3584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Relatórios PDF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56432" y="3941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Suporte email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11880" y="4572000"/>
            <a:ext cx="1965960" cy="292608"/>
          </a:xfrm>
          <a:prstGeom prst="rect">
            <a:avLst/>
          </a:prstGeom>
          <a:solidFill>
            <a:srgbClr val="00D8FF">
              <a:alpha val="18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4572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PMEs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749808"/>
            <a:ext cx="2606040" cy="4114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26480" y="133502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€199</a:t>
            </a:r>
            <a:pPr algn="ctr" indent="0" marL="0">
              <a:buNone/>
            </a:pPr>
            <a:r>
              <a:rPr lang="en-US" sz="13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3600" dirty="0"/>
          </a:p>
        </p:txBody>
      </p:sp>
      <p:sp>
        <p:nvSpPr>
          <p:cNvPr id="33" name="Shape 31"/>
          <p:cNvSpPr/>
          <p:nvPr/>
        </p:nvSpPr>
        <p:spPr>
          <a:xfrm>
            <a:off x="6400800" y="2029968"/>
            <a:ext cx="2057400" cy="0"/>
          </a:xfrm>
          <a:prstGeom prst="line">
            <a:avLst/>
          </a:prstGeom>
          <a:noFill/>
          <a:ln w="10160">
            <a:solidFill>
              <a:srgbClr val="00FF88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Utilizadores ilimitados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91072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Frotas ilimitadas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91072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Treino customizado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91072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Integração API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91072" y="3584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Suporte prioritário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91072" y="3941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SLA garantido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4572000"/>
            <a:ext cx="1965960" cy="292608"/>
          </a:xfrm>
          <a:prstGeom prst="rect">
            <a:avLst/>
          </a:prstGeom>
          <a:solidFill>
            <a:srgbClr val="00FF88">
              <a:alpha val="18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4572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frotas grandes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6 SEMANAS PARA O LANÇAMENTO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8046720" cy="0"/>
          </a:xfrm>
          <a:prstGeom prst="line">
            <a:avLst/>
          </a:prstGeom>
          <a:noFill/>
          <a:ln w="25400">
            <a:solidFill>
              <a:srgbClr val="1A2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682496"/>
            <a:ext cx="402336" cy="402336"/>
          </a:xfrm>
          <a:prstGeom prst="oval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7706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3009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59152" y="1682496"/>
            <a:ext cx="402336" cy="402336"/>
          </a:xfrm>
          <a:prstGeom prst="oval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12801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92808" y="22402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SendGrid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92808" y="27706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92808" y="33009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1682496"/>
            <a:ext cx="402336" cy="402336"/>
          </a:xfrm>
          <a:prstGeom prst="oval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12801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82696" y="22402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demo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82696" y="27706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Artigo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82696" y="33009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38928" y="1682496"/>
            <a:ext cx="402336" cy="402336"/>
          </a:xfrm>
          <a:prstGeom prst="oval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12801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72584" y="22402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72584" y="27706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72584" y="33009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RAG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28816" y="1682496"/>
            <a:ext cx="402336" cy="402336"/>
          </a:xfrm>
          <a:prstGeom prst="oval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12801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62472" y="22402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ProductHunt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62472" y="27706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62472" y="33009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espera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18704" y="1682496"/>
            <a:ext cx="402336" cy="402336"/>
          </a:xfrm>
          <a:prstGeom prst="oval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12801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52360" y="22402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LANÇAMENTO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52360" y="27706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ProductHunt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52360" y="33009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Reddit/HN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SUCESSO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434840"/>
            <a:ext cx="1600200" cy="502920"/>
          </a:xfrm>
          <a:prstGeom prst="rect">
            <a:avLst/>
          </a:prstGeom>
          <a:solidFill>
            <a:srgbClr val="0B1020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≥100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65760" y="4681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espera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103120" y="4434840"/>
            <a:ext cx="1600200" cy="502920"/>
          </a:xfrm>
          <a:prstGeom prst="rect">
            <a:avLst/>
          </a:prstGeom>
          <a:solidFill>
            <a:srgbClr val="0B102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2103120" y="4681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40480" y="4434840"/>
            <a:ext cx="1600200" cy="502920"/>
          </a:xfrm>
          <a:prstGeom prst="rect">
            <a:avLst/>
          </a:prstGeom>
          <a:solidFill>
            <a:srgbClr val="0B102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3840480" y="4681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ProductHunt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577840" y="4434840"/>
            <a:ext cx="1600200" cy="502920"/>
          </a:xfrm>
          <a:prstGeom prst="rect">
            <a:avLst/>
          </a:prstGeom>
          <a:solidFill>
            <a:srgbClr val="0B102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577840" y="4681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semana 4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315200" y="4434840"/>
            <a:ext cx="1600200" cy="502920"/>
          </a:xfrm>
          <a:prstGeom prst="rect">
            <a:avLst/>
          </a:prstGeom>
          <a:solidFill>
            <a:srgbClr val="0B1020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315200" y="4681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6 meses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 — 3 PREMISSAS CRÍTICAS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estas 3 premissas esta semana — antes de construir mais qualquer coisa.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1005840"/>
          </a:xfrm>
          <a:prstGeom prst="rect">
            <a:avLst/>
          </a:prstGeom>
          <a:solidFill>
            <a:srgbClr val="0B1020"/>
          </a:solidFill>
          <a:ln w="19050">
            <a:solidFill>
              <a:srgbClr val="FF2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64008" cy="1005840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517904"/>
            <a:ext cx="502920" cy="502920"/>
          </a:xfrm>
          <a:prstGeom prst="oval">
            <a:avLst/>
          </a:prstGeom>
          <a:solidFill>
            <a:srgbClr val="FF2244">
              <a:alpha val="75000"/>
            </a:srgbClr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517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13533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reais de motor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4440" y="168249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Contactar 3 oficinas Part-145. Oferecer 6 meses grátis em troca de dados históricos de manutenção. Mostrar retroativamente onde o sistema teria alertado.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1609344"/>
            <a:ext cx="2011680" cy="292608"/>
          </a:xfrm>
          <a:prstGeom prst="rect">
            <a:avLst/>
          </a:prstGeom>
          <a:solidFill>
            <a:srgbClr val="FF2244">
              <a:alpha val="18000"/>
            </a:srgbClr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09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semana: contactar 3 oficinas Part-145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8229600" cy="1005840"/>
          </a:xfrm>
          <a:prstGeom prst="rect">
            <a:avLst/>
          </a:prstGeom>
          <a:solidFill>
            <a:srgbClr val="0B1020"/>
          </a:solidFill>
          <a:ln w="19050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04872"/>
            <a:ext cx="64008" cy="10058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" y="2660904"/>
            <a:ext cx="502920" cy="502920"/>
          </a:xfrm>
          <a:prstGeom prst="oval">
            <a:avLst/>
          </a:prstGeom>
          <a:solidFill>
            <a:srgbClr val="FF9500">
              <a:alpha val="75000"/>
            </a:srgbClr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24963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qualidade do RAG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34440" y="282549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a 5 engenheiros para fazerem 10 perguntas e classificarem as respostas (1-5). Se média &lt; 3, migrar de tinyllama para llama3.2 ou mistral.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2752344"/>
            <a:ext cx="2011680" cy="292608"/>
          </a:xfrm>
          <a:prstGeom prst="rect">
            <a:avLst/>
          </a:prstGeom>
          <a:solidFill>
            <a:srgbClr val="FF9500">
              <a:alpha val="18000"/>
            </a:srgbClr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752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semana: recrutar 5 engenheiros para teste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8229600" cy="1005840"/>
          </a:xfrm>
          <a:prstGeom prst="rect">
            <a:avLst/>
          </a:prstGeom>
          <a:solidFill>
            <a:srgbClr val="0B1020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47872"/>
            <a:ext cx="64008" cy="10058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" y="3803904"/>
            <a:ext cx="502920" cy="502920"/>
          </a:xfrm>
          <a:prstGeom prst="oval">
            <a:avLst/>
          </a:prstGeom>
          <a:solidFill>
            <a:srgbClr val="00FF88">
              <a:alpha val="7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34440" y="36393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disposição a pagar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34440" y="396849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Oferecer acesso ao piloto por €1 (não grátis). Se ninguém pagar €1, é problema de posicionamento — não de produto.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3895344"/>
            <a:ext cx="2011680" cy="292608"/>
          </a:xfrm>
          <a:prstGeom prst="rect">
            <a:avLst/>
          </a:prstGeom>
          <a:solidFill>
            <a:srgbClr val="00FF88">
              <a:alpha val="18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895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semana: criar página de pagamento Stripe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 de construir. Comece a ligar.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777240"/>
            <a:ext cx="6400800" cy="3611880"/>
          </a:xfrm>
          <a:prstGeom prst="rect">
            <a:avLst/>
          </a:prstGeom>
          <a:solidFill>
            <a:srgbClr val="0B1020">
              <a:alpha val="90000"/>
            </a:srgbClr>
          </a:solidFill>
          <a:ln w="19050">
            <a:solidFill>
              <a:srgbClr val="0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371600" y="777240"/>
            <a:ext cx="91440" cy="361188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71600" y="10515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Aerospace AI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137160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Artur Augusto — Fundador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43200" y="2267712"/>
            <a:ext cx="3657600" cy="0"/>
          </a:xfrm>
          <a:prstGeom prst="line">
            <a:avLst/>
          </a:prstGeom>
          <a:noFill/>
          <a:ln w="12700">
            <a:solidFill>
              <a:srgbClr val="00D8FF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24231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Arthur874066@gmail.com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371600" y="28803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bostonaerospace.ai (em breve)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71600" y="33375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  github.com/meme5y/Boston_aerospace-AI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645920" y="37947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"Pare de construir. Comece a ligar."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Agende uma demonstração hoje.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v4.0 · Junho 2026 · NASA CMAPSS · Ollama · Docker · Cloudflare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Boston Aerospace AI — Apresentação</dc:title>
  <dc:subject>PptxGenJS Presentation</dc:subject>
  <dc:creator>PptxGenJS</dc:creator>
  <cp:lastModifiedBy>PptxGenJS</cp:lastModifiedBy>
  <cp:revision>1</cp:revision>
  <dcterms:created xsi:type="dcterms:W3CDTF">2026-06-11T10:38:45Z</dcterms:created>
  <dcterms:modified xsi:type="dcterms:W3CDTF">2026-06-11T10:38:45Z</dcterms:modified>
</cp:coreProperties>
</file>